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Revenue by Gender ($)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5860c69-4703-4699-8fe0-a3aae421cd5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Customer Segmentation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F6C02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eca0caa-16ed-444b-b8e3-932299826e6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Top 5 Products by Rating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CCDD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9"/>
          <c:min val="3.7"/>
        </c:scaling>
        <c:delete val="0"/>
        <c:axPos val="b"/>
        <c:majorGridlines>
          <c:spPr>
            <a:ln w="6350" cap="flat" cmpd="sng" algn="ctr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CCDD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a431341-782f-4889-ac5b-d998927cf714}"/>
      </c:ext>
    </c:extLst>
  </c:chart>
  <c:spPr>
    <a:solidFill>
      <a:srgbClr val="1B3A5C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Most Discount-Dependent Products (%)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F6C0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Hat</c:v>
                </c:pt>
                <c:pt idx="1">
                  <c:v>Sneakers</c:v>
                </c:pt>
                <c:pt idx="2">
                  <c:v>Coat</c:v>
                </c:pt>
                <c:pt idx="3">
                  <c:v>Sweater</c:v>
                </c:pt>
                <c:pt idx="4">
                  <c:v>Pants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CCDD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0"/>
        </c:scaling>
        <c:delete val="0"/>
        <c:axPos val="b"/>
        <c:majorGridlines>
          <c:spPr>
            <a:ln w="6350" cap="flat" cmpd="sng" algn="ctr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CCDD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98db128-62e4-4297-acfb-3f4cca8d3496}"/>
      </c:ext>
    </c:extLst>
  </c:chart>
  <c:spPr>
    <a:solidFill>
      <a:srgbClr val="1B3A5C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3" name="Shape 1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274320"/>
            <a:ext cx="3657600" cy="3657600"/>
          </a:xfrm>
          <a:prstGeom prst="ellipse">
            <a:avLst/>
          </a:prstGeom>
          <a:solidFill>
            <a:srgbClr val="1A7A4A">
              <a:alpha val="5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0A896"/>
          </a:solidFill>
        </p:spPr>
      </p:sp>
      <p:sp>
        <p:nvSpPr>
          <p:cNvPr id="6" name="Text 4"/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DATA ANALYTICS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94360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Shopping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5669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Analytics: Python · SQL · Power BI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401568"/>
            <a:ext cx="5669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B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3,900 transactions · 18 features · 4 product categories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069080"/>
            <a:ext cx="1828800" cy="77724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4069080"/>
            <a:ext cx="54864" cy="77724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2" name="Text 10"/>
          <p:cNvSpPr/>
          <p:nvPr/>
        </p:nvSpPr>
        <p:spPr>
          <a:xfrm>
            <a:off x="521208" y="409651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CC71"/>
                </a:solidFill>
              </a:rPr>
              <a:t>3,900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208" y="44622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BAA"/>
                </a:solidFill>
              </a:rPr>
              <a:t>Purchases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4069080"/>
            <a:ext cx="1828800" cy="77724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4069080"/>
            <a:ext cx="54864" cy="77724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6" name="Text 14"/>
          <p:cNvSpPr/>
          <p:nvPr/>
        </p:nvSpPr>
        <p:spPr>
          <a:xfrm>
            <a:off x="2624328" y="409651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CC71"/>
                </a:solidFill>
              </a:rPr>
              <a:t>18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24328" y="44622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BAA"/>
                </a:solidFill>
              </a:rPr>
              <a:t>Features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4069080"/>
            <a:ext cx="1828800" cy="77724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4069080"/>
            <a:ext cx="54864" cy="77724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20" name="Text 18"/>
          <p:cNvSpPr/>
          <p:nvPr/>
        </p:nvSpPr>
        <p:spPr>
          <a:xfrm>
            <a:off x="4727448" y="409651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CC7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27448" y="44622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BAA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4069080"/>
            <a:ext cx="1828800" cy="77724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4069080"/>
            <a:ext cx="54864" cy="77724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24" name="Text 22"/>
          <p:cNvSpPr/>
          <p:nvPr/>
        </p:nvSpPr>
        <p:spPr>
          <a:xfrm>
            <a:off x="6830568" y="409651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CC71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30568" y="44622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BAA"/>
                </a:solidFill>
              </a:rPr>
              <a:t>Tools Used</a:t>
            </a:r>
            <a:endParaRPr lang="en-US" sz="10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291840"/>
            <a:ext cx="457200" cy="457200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291840"/>
            <a:ext cx="457200" cy="457200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29184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0800" y="38404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BBAA"/>
                </a:solidFill>
              </a:rPr>
              <a:t>Python   SQL   Power 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5" name="Shape 3"/>
          <p:cNvSpPr/>
          <p:nvPr/>
        </p:nvSpPr>
        <p:spPr>
          <a:xfrm>
            <a:off x="365760" y="1234440"/>
            <a:ext cx="4206240" cy="3474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206240" cy="64008"/>
          </a:xfrm>
          <a:prstGeom prst="rect">
            <a:avLst/>
          </a:prstGeom>
          <a:solidFill>
            <a:srgbClr val="1A7A4A"/>
          </a:solidFill>
        </p:spPr>
      </p:sp>
      <p:sp>
        <p:nvSpPr>
          <p:cNvPr id="7" name="Text 5"/>
          <p:cNvSpPr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🎯  Project Goal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840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Analyze customer shopping behavior using transactional retail data to uncover insights into spending patterns, customer segments, product preferences, and subscription behavior — enabling data-driven strategic decisions.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3840480" cy="0"/>
          </a:xfrm>
          <a:prstGeom prst="rect">
            <a:avLst/>
          </a:prstGeom>
          <a:noFill/>
        </p:spPr>
      </p:sp>
      <p:sp>
        <p:nvSpPr>
          <p:cNvPr id="10" name="Shape 8"/>
          <p:cNvSpPr/>
          <p:nvPr/>
        </p:nvSpPr>
        <p:spPr>
          <a:xfrm>
            <a:off x="502920" y="3246120"/>
            <a:ext cx="3840480" cy="0"/>
          </a:xfrm>
          <a:prstGeom prst="rect">
            <a:avLst/>
          </a:prstGeom>
          <a:noFill/>
        </p:spPr>
      </p:sp>
      <p:sp>
        <p:nvSpPr>
          <p:cNvPr id="11" name="Shape 9"/>
          <p:cNvSpPr/>
          <p:nvPr/>
        </p:nvSpPr>
        <p:spPr>
          <a:xfrm>
            <a:off x="502920" y="3246120"/>
            <a:ext cx="3840480" cy="0"/>
          </a:xfrm>
          <a:prstGeom prst="rect">
            <a:avLst/>
          </a:prstGeom>
          <a:noFill/>
        </p:spPr>
      </p:sp>
      <p:sp>
        <p:nvSpPr>
          <p:cNvPr id="12" name="Shape 10"/>
          <p:cNvSpPr/>
          <p:nvPr/>
        </p:nvSpPr>
        <p:spPr>
          <a:xfrm>
            <a:off x="502920" y="3246120"/>
            <a:ext cx="3840480" cy="0"/>
          </a:xfrm>
          <a:prstGeom prst="rect">
            <a:avLst/>
          </a:prstGeom>
          <a:noFill/>
        </p:spPr>
      </p:sp>
      <p:sp>
        <p:nvSpPr>
          <p:cNvPr id="13" name="Shape 11"/>
          <p:cNvSpPr/>
          <p:nvPr/>
        </p:nvSpPr>
        <p:spPr>
          <a:xfrm>
            <a:off x="502920" y="3182112"/>
            <a:ext cx="292608" cy="292608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4" name="Text 12"/>
          <p:cNvSpPr/>
          <p:nvPr/>
        </p:nvSpPr>
        <p:spPr>
          <a:xfrm>
            <a:off x="502920" y="31821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18211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24912" y="318211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3,900 purchase records · across 4 categories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292608" cy="292608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8" name="Text 16"/>
          <p:cNvSpPr/>
          <p:nvPr/>
        </p:nvSpPr>
        <p:spPr>
          <a:xfrm>
            <a:off x="502920" y="35661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Python EDA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24912" y="35661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Cleaning, feature · engineering &amp; prep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950208"/>
            <a:ext cx="292608" cy="292608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/>
          <p:cNvSpPr/>
          <p:nvPr/>
        </p:nvSpPr>
        <p:spPr>
          <a:xfrm>
            <a:off x="502920" y="39502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SQL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24912" y="395020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10 business queries · in PostgreSQL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334256"/>
            <a:ext cx="292608" cy="292608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6" name="Text 24"/>
          <p:cNvSpPr/>
          <p:nvPr/>
        </p:nvSpPr>
        <p:spPr>
          <a:xfrm>
            <a:off x="502920" y="433425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433425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Power BI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24912" y="433425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Interactive visual · reporting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1234440"/>
            <a:ext cx="393192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234440"/>
            <a:ext cx="73152" cy="100584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31" name="Text 29"/>
          <p:cNvSpPr/>
          <p:nvPr/>
        </p:nvSpPr>
        <p:spPr>
          <a:xfrm>
            <a:off x="5074920" y="1325880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</a:rPr>
              <a:t>3,900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074920" y="1801368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Total Purchases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2423160"/>
            <a:ext cx="393192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423160"/>
            <a:ext cx="73152" cy="1005840"/>
          </a:xfrm>
          <a:prstGeom prst="rect">
            <a:avLst/>
          </a:prstGeom>
          <a:solidFill>
            <a:srgbClr val="1A7A4A"/>
          </a:solidFill>
        </p:spPr>
      </p:sp>
      <p:sp>
        <p:nvSpPr>
          <p:cNvPr id="35" name="Text 33"/>
          <p:cNvSpPr/>
          <p:nvPr/>
        </p:nvSpPr>
        <p:spPr>
          <a:xfrm>
            <a:off x="5074920" y="2514600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</a:rPr>
              <a:t>$59.76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5074920" y="2990088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Avg Purchase Amount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3611880"/>
            <a:ext cx="3931920" cy="10058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611880"/>
            <a:ext cx="73152" cy="1005840"/>
          </a:xfrm>
          <a:prstGeom prst="rect">
            <a:avLst/>
          </a:prstGeom>
          <a:solidFill>
            <a:srgbClr val="F6C026"/>
          </a:solidFill>
        </p:spPr>
      </p:sp>
      <p:sp>
        <p:nvSpPr>
          <p:cNvPr id="39" name="Text 37"/>
          <p:cNvSpPr/>
          <p:nvPr/>
        </p:nvSpPr>
        <p:spPr>
          <a:xfrm>
            <a:off x="5074920" y="3703320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</a:rPr>
              <a:t>3.75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5074920" y="4178808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Avg Review Rating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463040" cy="4572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5" name="Text 3"/>
          <p:cNvSpPr/>
          <p:nvPr/>
        </p:nvSpPr>
        <p:spPr>
          <a:xfrm>
            <a:off x="320040" y="82296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BBCC"/>
                </a:solidFill>
              </a:rPr>
              <a:t>3,900 rows · 18 columns · Retail transaction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97480" cy="301752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697480" cy="50292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8" name="Text 6"/>
          <p:cNvSpPr/>
          <p:nvPr/>
        </p:nvSpPr>
        <p:spPr>
          <a:xfrm>
            <a:off x="411480" y="128016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👤 Demographics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1920240"/>
            <a:ext cx="91440" cy="914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0" name="Text 8"/>
          <p:cNvSpPr/>
          <p:nvPr/>
        </p:nvSpPr>
        <p:spPr>
          <a:xfrm>
            <a:off x="640080" y="187452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" y="2423160"/>
            <a:ext cx="91440" cy="914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2" name="Text 10"/>
          <p:cNvSpPr/>
          <p:nvPr/>
        </p:nvSpPr>
        <p:spPr>
          <a:xfrm>
            <a:off x="640080" y="237744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Gender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" y="2926080"/>
            <a:ext cx="91440" cy="914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4" name="Text 12"/>
          <p:cNvSpPr/>
          <p:nvPr/>
        </p:nvSpPr>
        <p:spPr>
          <a:xfrm>
            <a:off x="640080" y="28803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Location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" y="3429000"/>
            <a:ext cx="91440" cy="914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6" name="Text 14"/>
          <p:cNvSpPr/>
          <p:nvPr/>
        </p:nvSpPr>
        <p:spPr>
          <a:xfrm>
            <a:off x="640080" y="338328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Subscription Status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1280160"/>
            <a:ext cx="2697480" cy="301752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280160"/>
            <a:ext cx="2697480" cy="502920"/>
          </a:xfrm>
          <a:prstGeom prst="rect">
            <a:avLst/>
          </a:prstGeom>
          <a:solidFill>
            <a:srgbClr val="2ECC71"/>
          </a:solidFill>
        </p:spPr>
      </p:sp>
      <p:sp>
        <p:nvSpPr>
          <p:cNvPr id="19" name="Text 17"/>
          <p:cNvSpPr/>
          <p:nvPr/>
        </p:nvSpPr>
        <p:spPr>
          <a:xfrm>
            <a:off x="3291840" y="128016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🛍️ Purchase Details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4992" y="1920240"/>
            <a:ext cx="91440" cy="9144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21" name="Text 19"/>
          <p:cNvSpPr/>
          <p:nvPr/>
        </p:nvSpPr>
        <p:spPr>
          <a:xfrm>
            <a:off x="3520440" y="187452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Item Purchased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64992" y="2423160"/>
            <a:ext cx="91440" cy="9144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23" name="Text 21"/>
          <p:cNvSpPr/>
          <p:nvPr/>
        </p:nvSpPr>
        <p:spPr>
          <a:xfrm>
            <a:off x="3520440" y="237744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Category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64992" y="2926080"/>
            <a:ext cx="91440" cy="9144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25" name="Text 23"/>
          <p:cNvSpPr/>
          <p:nvPr/>
        </p:nvSpPr>
        <p:spPr>
          <a:xfrm>
            <a:off x="3520440" y="28803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Purchase Amount (USD)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64992" y="3429000"/>
            <a:ext cx="91440" cy="9144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27" name="Text 25"/>
          <p:cNvSpPr/>
          <p:nvPr/>
        </p:nvSpPr>
        <p:spPr>
          <a:xfrm>
            <a:off x="3520440" y="338328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Season · Size · Color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80760" y="1280160"/>
            <a:ext cx="2697480" cy="301752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280160"/>
            <a:ext cx="2697480" cy="502920"/>
          </a:xfrm>
          <a:prstGeom prst="rect">
            <a:avLst/>
          </a:prstGeom>
          <a:solidFill>
            <a:srgbClr val="F6C026"/>
          </a:solidFill>
        </p:spPr>
      </p:sp>
      <p:sp>
        <p:nvSpPr>
          <p:cNvPr id="30" name="Text 28"/>
          <p:cNvSpPr/>
          <p:nvPr/>
        </p:nvSpPr>
        <p:spPr>
          <a:xfrm>
            <a:off x="6172200" y="128016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📊 Shopping Behavior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45352" y="1920240"/>
            <a:ext cx="91440" cy="91440"/>
          </a:xfrm>
          <a:prstGeom prst="ellipse">
            <a:avLst/>
          </a:prstGeom>
          <a:solidFill>
            <a:srgbClr val="F6C026"/>
          </a:solidFill>
        </p:spPr>
      </p:sp>
      <p:sp>
        <p:nvSpPr>
          <p:cNvPr id="32" name="Text 30"/>
          <p:cNvSpPr/>
          <p:nvPr/>
        </p:nvSpPr>
        <p:spPr>
          <a:xfrm>
            <a:off x="6400800" y="187452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Discount Applied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45352" y="2423160"/>
            <a:ext cx="91440" cy="91440"/>
          </a:xfrm>
          <a:prstGeom prst="ellipse">
            <a:avLst/>
          </a:prstGeom>
          <a:solidFill>
            <a:srgbClr val="F6C026"/>
          </a:solidFill>
        </p:spPr>
      </p:sp>
      <p:sp>
        <p:nvSpPr>
          <p:cNvPr id="34" name="Text 32"/>
          <p:cNvSpPr/>
          <p:nvPr/>
        </p:nvSpPr>
        <p:spPr>
          <a:xfrm>
            <a:off x="6400800" y="237744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Prev. Purchases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45352" y="2926080"/>
            <a:ext cx="91440" cy="91440"/>
          </a:xfrm>
          <a:prstGeom prst="ellipse">
            <a:avLst/>
          </a:prstGeom>
          <a:solidFill>
            <a:srgbClr val="F6C026"/>
          </a:solidFill>
        </p:spPr>
      </p:sp>
      <p:sp>
        <p:nvSpPr>
          <p:cNvPr id="36" name="Text 34"/>
          <p:cNvSpPr/>
          <p:nvPr/>
        </p:nvSpPr>
        <p:spPr>
          <a:xfrm>
            <a:off x="6400800" y="28803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Frequency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45352" y="3429000"/>
            <a:ext cx="91440" cy="91440"/>
          </a:xfrm>
          <a:prstGeom prst="ellipse">
            <a:avLst/>
          </a:prstGeom>
          <a:solidFill>
            <a:srgbClr val="F6C026"/>
          </a:solidFill>
        </p:spPr>
      </p:sp>
      <p:sp>
        <p:nvSpPr>
          <p:cNvPr id="38" name="Text 36"/>
          <p:cNvSpPr/>
          <p:nvPr/>
        </p:nvSpPr>
        <p:spPr>
          <a:xfrm>
            <a:off x="6400800" y="338328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Review Rating · Shipping Type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132033"/>
          </a:solidFill>
        </p:spPr>
      </p:sp>
      <p:sp>
        <p:nvSpPr>
          <p:cNvPr id="40" name="Text 38"/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6C026"/>
                </a:solidFill>
              </a:rPr>
              <a:t>⚠️  Missing Data: 37 null values in Review Rating column — imputed using median rating per product category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 —  Exploratory Data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776AB"/>
          </a:solidFill>
        </p:spPr>
      </p:sp>
      <p:sp>
        <p:nvSpPr>
          <p:cNvPr id="5" name="Shape 3"/>
          <p:cNvSpPr/>
          <p:nvPr/>
        </p:nvSpPr>
        <p:spPr>
          <a:xfrm>
            <a:off x="274320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600200" cy="73152"/>
          </a:xfrm>
          <a:prstGeom prst="rect">
            <a:avLst/>
          </a:prstGeom>
          <a:solidFill>
            <a:srgbClr val="3776AB"/>
          </a:solidFill>
        </p:spPr>
      </p:sp>
      <p:sp>
        <p:nvSpPr>
          <p:cNvPr id="7" name="Shape 5"/>
          <p:cNvSpPr/>
          <p:nvPr/>
        </p:nvSpPr>
        <p:spPr>
          <a:xfrm>
            <a:off x="777240" y="1353312"/>
            <a:ext cx="594360" cy="594360"/>
          </a:xfrm>
          <a:prstGeom prst="ellipse">
            <a:avLst/>
          </a:prstGeom>
          <a:solidFill>
            <a:srgbClr val="3776AB"/>
          </a:solidFill>
        </p:spPr>
      </p:sp>
      <p:sp>
        <p:nvSpPr>
          <p:cNvPr id="8" name="Text 6"/>
          <p:cNvSpPr/>
          <p:nvPr/>
        </p:nvSpPr>
        <p:spPr>
          <a:xfrm>
            <a:off x="777240" y="135331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880360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Data Loading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47472" y="3401568"/>
            <a:ext cx="145389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Imported dataset using pandas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(3,900 rows, 18 columns)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74520" y="2011680"/>
            <a:ext cx="137160" cy="0"/>
          </a:xfrm>
          <a:prstGeom prst="line">
            <a:avLst/>
          </a:prstGeom>
          <a:noFill/>
          <a:ln w="25400">
            <a:solidFill>
              <a:srgbClr val="3776AB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2011680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11680" y="1188720"/>
            <a:ext cx="1600200" cy="73152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5" name="Shape 12"/>
          <p:cNvSpPr/>
          <p:nvPr/>
        </p:nvSpPr>
        <p:spPr>
          <a:xfrm>
            <a:off x="2514600" y="1353312"/>
            <a:ext cx="594360" cy="59436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6" name="Text 13"/>
          <p:cNvSpPr/>
          <p:nvPr/>
        </p:nvSpPr>
        <p:spPr>
          <a:xfrm>
            <a:off x="2514600" y="135331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148840"/>
            <a:ext cx="594360" cy="5943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03120" y="2880360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Initial Exploration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084832" y="3401568"/>
            <a:ext cx="145389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df.info() &amp; .describe()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for structure &amp; stats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11880" y="2011680"/>
            <a:ext cx="137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3749040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49040" y="1188720"/>
            <a:ext cx="1600200" cy="73152"/>
          </a:xfrm>
          <a:prstGeom prst="rect">
            <a:avLst/>
          </a:prstGeom>
          <a:solidFill>
            <a:srgbClr val="2ECC71"/>
          </a:solidFill>
        </p:spPr>
      </p:sp>
      <p:sp>
        <p:nvSpPr>
          <p:cNvPr id="23" name="Shape 19"/>
          <p:cNvSpPr/>
          <p:nvPr/>
        </p:nvSpPr>
        <p:spPr>
          <a:xfrm>
            <a:off x="4251960" y="1353312"/>
            <a:ext cx="594360" cy="594360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24" name="Text 20"/>
          <p:cNvSpPr/>
          <p:nvPr/>
        </p:nvSpPr>
        <p:spPr>
          <a:xfrm>
            <a:off x="4251960" y="135331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148840"/>
            <a:ext cx="594360" cy="5943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40480" y="2880360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Missing Data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3822192" y="3401568"/>
            <a:ext cx="145389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37 nulls in Review Rating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Imputed via category median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349240" y="2011680"/>
            <a:ext cx="137160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dash"/>
          </a:ln>
        </p:spPr>
      </p:sp>
      <p:sp>
        <p:nvSpPr>
          <p:cNvPr id="29" name="Shape 24"/>
          <p:cNvSpPr/>
          <p:nvPr/>
        </p:nvSpPr>
        <p:spPr>
          <a:xfrm>
            <a:off x="5486400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86400" y="1188720"/>
            <a:ext cx="1600200" cy="73152"/>
          </a:xfrm>
          <a:prstGeom prst="rect">
            <a:avLst/>
          </a:prstGeom>
          <a:solidFill>
            <a:srgbClr val="F6C026"/>
          </a:solidFill>
        </p:spPr>
      </p:sp>
      <p:sp>
        <p:nvSpPr>
          <p:cNvPr id="31" name="Shape 26"/>
          <p:cNvSpPr/>
          <p:nvPr/>
        </p:nvSpPr>
        <p:spPr>
          <a:xfrm>
            <a:off x="5989320" y="1353312"/>
            <a:ext cx="594360" cy="594360"/>
          </a:xfrm>
          <a:prstGeom prst="ellipse">
            <a:avLst/>
          </a:prstGeom>
          <a:solidFill>
            <a:srgbClr val="F6C026"/>
          </a:solidFill>
        </p:spPr>
      </p:sp>
      <p:sp>
        <p:nvSpPr>
          <p:cNvPr id="32" name="Text 27"/>
          <p:cNvSpPr/>
          <p:nvPr/>
        </p:nvSpPr>
        <p:spPr>
          <a:xfrm>
            <a:off x="5989320" y="135331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148840"/>
            <a:ext cx="594360" cy="5943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77840" y="2880360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Feature Engineering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559552" y="3401568"/>
            <a:ext cx="145389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Created age_group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purchase_frequency_days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7086600" y="2011680"/>
            <a:ext cx="137160" cy="0"/>
          </a:xfrm>
          <a:prstGeom prst="line">
            <a:avLst/>
          </a:prstGeom>
          <a:noFill/>
          <a:ln w="25400">
            <a:solidFill>
              <a:srgbClr val="F6C026"/>
            </a:solidFill>
            <a:prstDash val="dash"/>
          </a:ln>
        </p:spPr>
      </p:sp>
      <p:sp>
        <p:nvSpPr>
          <p:cNvPr id="37" name="Shape 31"/>
          <p:cNvSpPr/>
          <p:nvPr/>
        </p:nvSpPr>
        <p:spPr>
          <a:xfrm>
            <a:off x="7223760" y="1188720"/>
            <a:ext cx="160020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223760" y="1188720"/>
            <a:ext cx="1600200" cy="73152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39" name="Shape 33"/>
          <p:cNvSpPr/>
          <p:nvPr/>
        </p:nvSpPr>
        <p:spPr>
          <a:xfrm>
            <a:off x="7726680" y="1353312"/>
            <a:ext cx="594360" cy="594360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40" name="Text 34"/>
          <p:cNvSpPr/>
          <p:nvPr/>
        </p:nvSpPr>
        <p:spPr>
          <a:xfrm>
            <a:off x="7726680" y="135331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2148840"/>
            <a:ext cx="594360" cy="5943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315200" y="2880360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Database Integration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7296912" y="3401568"/>
            <a:ext cx="145389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Loaded clean DataFrame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into PostgreSQL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45" name="Text 3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7A4A"/>
                </a:solidFill>
              </a:rPr>
              <a:t>✅  Also verified: discount_applied &amp; promo_code_used were redundant → dropped promo_code_used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86868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3776AB"/>
          </a:solidFill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🐍  Python Code  —  Jupyter Notebook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77535" y="37084"/>
            <a:ext cx="146304" cy="146304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6024372" y="45974"/>
            <a:ext cx="146304" cy="146304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6371844" y="37084"/>
            <a:ext cx="146304" cy="146304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Shape 6"/>
          <p:cNvSpPr/>
          <p:nvPr/>
        </p:nvSpPr>
        <p:spPr>
          <a:xfrm>
            <a:off x="182880" y="1005840"/>
            <a:ext cx="4297680" cy="1234440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4297680" cy="274320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10" name="Text 8"/>
          <p:cNvSpPr/>
          <p:nvPr/>
        </p:nvSpPr>
        <p:spPr>
          <a:xfrm>
            <a:off x="320040" y="104241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  Data Loading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1316736"/>
            <a:ext cx="4160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pandas </a:t>
            </a:r>
            <a:r>
              <a:rPr lang="en-US" sz="9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pd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 </a:t>
            </a: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pd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.read_csv(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r"...customer_shopping_behavior.csv"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.head()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377440"/>
            <a:ext cx="4297680" cy="1234440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377440"/>
            <a:ext cx="4297680" cy="274320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14" name="Text 12"/>
          <p:cNvSpPr/>
          <p:nvPr/>
        </p:nvSpPr>
        <p:spPr>
          <a:xfrm>
            <a:off x="320040" y="241401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A65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[5]  Missing Data Check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" y="2688336"/>
            <a:ext cx="4160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.isnull()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.sum()</a:t>
            </a: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
# Review Rating  →  37 nulls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['Review Rating'] =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.groupby(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'Category'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'Review Rating'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].transform(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lambda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x: x.fillna(x.median()))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749040"/>
            <a:ext cx="4297680" cy="1234440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749040"/>
            <a:ext cx="4297680" cy="274320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18" name="Text 16"/>
          <p:cNvSpPr/>
          <p:nvPr/>
        </p:nvSpPr>
        <p:spPr>
          <a:xfrm>
            <a:off x="320040" y="378561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[8]  Column Standardization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" y="4059936"/>
            <a:ext cx="4160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.columns =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.columns.str.lower()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.columns =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.columns.str.replace(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 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'_'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df.rename(columns={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'purchase_amount_(usd)'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'purchase_amount'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297680" cy="1234440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4297680" cy="274320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22" name="Text 20"/>
          <p:cNvSpPr/>
          <p:nvPr/>
        </p:nvSpPr>
        <p:spPr>
          <a:xfrm>
            <a:off x="4800600" y="104241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[10]  Feature Engineering — Age Group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36592" y="1316736"/>
            <a:ext cx="4160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Create age_group bins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labels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[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'Young Adult'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'Adult'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'Middle-aged'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'Senior'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['age_group'] = pd.qcut(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['age'],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q=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labels=labels)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377440"/>
            <a:ext cx="4297680" cy="1234440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377440"/>
            <a:ext cx="4297680" cy="274320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26" name="Text 24"/>
          <p:cNvSpPr/>
          <p:nvPr/>
        </p:nvSpPr>
        <p:spPr>
          <a:xfrm>
            <a:off x="4800600" y="2375281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A65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[12]  Feature Engineering — Frequency Days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36465" y="2837815"/>
            <a:ext cx="4160520" cy="608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frequency_mapping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{
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'Fortnightly'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 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'Weekly'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'Monthly'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30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  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'Quarterly'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90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'Annually'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365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}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['purchase_frequency_days']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df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['frequency_of_purchases'].map(frequency_mapping)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749040"/>
            <a:ext cx="4297680" cy="1234440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749040"/>
            <a:ext cx="4297680" cy="274320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30" name="Text 28"/>
          <p:cNvSpPr/>
          <p:nvPr/>
        </p:nvSpPr>
        <p:spPr>
          <a:xfrm>
            <a:off x="4800600" y="378561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[15–20]  Redundancy Check + DB Load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465" y="4060190"/>
            <a:ext cx="4160520" cy="796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Verify columns are identical → drop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(df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['discount_applied'] == df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['promo_code_used'])</a:t>
            </a: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.all()  # → True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 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df.drop(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'promo_code_used'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axis=</a:t>
            </a:r>
            <a:r>
              <a:rPr lang="en-US" sz="9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
</a:t>
            </a: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Load to PostgreSQL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engine 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create_engine(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f"postgresql+psycopg2://...", 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
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</a:t>
            </a:r>
            <a:r>
              <a:rPr lang="en-US" sz="9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.to_sql(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'customer'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engine, if_exists=</a:t>
            </a:r>
            <a:r>
              <a:rPr lang="en-US" sz="9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'replace'</a:t>
            </a:r>
            <a:r>
              <a:rPr lang="en-US" sz="9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</a:rPr>
              <a:t>✅  Clean DataFrame: 3,900 rows · 19 cols (after feature engineering) · Loaded into PostgreSQL table 'customer'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9111"/>
          </a:solidFill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SQL  —  Business Transactions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BE"/>
                </a:solidFill>
              </a:rPr>
              <a:t>10 structured business queries executed in PostgreSQL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365760" cy="658368"/>
          </a:xfrm>
          <a:prstGeom prst="rect">
            <a:avLst/>
          </a:prstGeom>
          <a:solidFill>
            <a:srgbClr val="F29111"/>
          </a:solidFill>
        </p:spPr>
      </p:sp>
      <p:sp>
        <p:nvSpPr>
          <p:cNvPr id="7" name="Text 5"/>
          <p:cNvSpPr/>
          <p:nvPr/>
        </p:nvSpPr>
        <p:spPr>
          <a:xfrm>
            <a:off x="320040" y="1188720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22529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by Gender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Male: $157,890  |  Female: $75,191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956816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56816"/>
            <a:ext cx="365760" cy="658368"/>
          </a:xfrm>
          <a:prstGeom prst="rect">
            <a:avLst/>
          </a:prstGeom>
          <a:solidFill>
            <a:srgbClr val="F29111"/>
          </a:solidFill>
        </p:spPr>
      </p:sp>
      <p:sp>
        <p:nvSpPr>
          <p:cNvPr id="12" name="Text 10"/>
          <p:cNvSpPr/>
          <p:nvPr/>
        </p:nvSpPr>
        <p:spPr>
          <a:xfrm>
            <a:off x="320040" y="1956816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199339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High-Spending Discount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27685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839 customers spent above average using discounts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724912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724912"/>
            <a:ext cx="365760" cy="658368"/>
          </a:xfrm>
          <a:prstGeom prst="rect">
            <a:avLst/>
          </a:prstGeom>
          <a:solidFill>
            <a:srgbClr val="F29111"/>
          </a:solidFill>
        </p:spPr>
      </p:sp>
      <p:sp>
        <p:nvSpPr>
          <p:cNvPr id="17" name="Text 15"/>
          <p:cNvSpPr/>
          <p:nvPr/>
        </p:nvSpPr>
        <p:spPr>
          <a:xfrm>
            <a:off x="320040" y="2724912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76148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5 Products by Rating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04495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Gloves 3.86 · Sandals 3.84 · Boots 3.82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493008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93008"/>
            <a:ext cx="365760" cy="658368"/>
          </a:xfrm>
          <a:prstGeom prst="rect">
            <a:avLst/>
          </a:prstGeom>
          <a:solidFill>
            <a:srgbClr val="F29111"/>
          </a:solidFill>
        </p:spPr>
      </p:sp>
      <p:sp>
        <p:nvSpPr>
          <p:cNvPr id="22" name="Text 20"/>
          <p:cNvSpPr/>
          <p:nvPr/>
        </p:nvSpPr>
        <p:spPr>
          <a:xfrm>
            <a:off x="320040" y="3493008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52958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Shipping Type Comparison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81304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Express: $60.48  |  Standard: $58.46 avg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261104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261104"/>
            <a:ext cx="365760" cy="658368"/>
          </a:xfrm>
          <a:prstGeom prst="rect">
            <a:avLst/>
          </a:prstGeom>
          <a:solidFill>
            <a:srgbClr val="F29111"/>
          </a:solidFill>
        </p:spPr>
      </p:sp>
      <p:sp>
        <p:nvSpPr>
          <p:cNvPr id="27" name="Text 25"/>
          <p:cNvSpPr/>
          <p:nvPr/>
        </p:nvSpPr>
        <p:spPr>
          <a:xfrm>
            <a:off x="320040" y="4261104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29768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Subscribers vs Non-Subscribers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58114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Sub avg: $59.49  |  Non-sub avg: $59.87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1188720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188720"/>
            <a:ext cx="365760" cy="658368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32" name="Text 30"/>
          <p:cNvSpPr/>
          <p:nvPr/>
        </p:nvSpPr>
        <p:spPr>
          <a:xfrm>
            <a:off x="4800600" y="1188720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122529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Discount-Dependent Products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150876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Hat 50% · Sneakers 49.7% · Coat 49.1%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1956816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1956816"/>
            <a:ext cx="365760" cy="658368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37" name="Text 35"/>
          <p:cNvSpPr/>
          <p:nvPr/>
        </p:nvSpPr>
        <p:spPr>
          <a:xfrm>
            <a:off x="4800600" y="1956816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199339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Segmentation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2276856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Loyal: 3,116  |  Returning: 701  |  New: 83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2724912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2724912"/>
            <a:ext cx="365760" cy="658368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42" name="Text 40"/>
          <p:cNvSpPr/>
          <p:nvPr/>
        </p:nvSpPr>
        <p:spPr>
          <a:xfrm>
            <a:off x="4800600" y="2724912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276148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3 Products per Category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04495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Jewelry, Blouse, Sandals, Jacket lead each cat.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3493008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3493008"/>
            <a:ext cx="365760" cy="658368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47" name="Text 45"/>
          <p:cNvSpPr/>
          <p:nvPr/>
        </p:nvSpPr>
        <p:spPr>
          <a:xfrm>
            <a:off x="4800600" y="3493008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57800" y="352958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Repeat Buyers &amp; Subscriptions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57800" y="381304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Non-sub repeat: 2,518  |  Sub repeat: 958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4261104"/>
            <a:ext cx="4206240" cy="658368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0600" y="4261104"/>
            <a:ext cx="365760" cy="658368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52" name="Text 50"/>
          <p:cNvSpPr/>
          <p:nvPr/>
        </p:nvSpPr>
        <p:spPr>
          <a:xfrm>
            <a:off x="4800600" y="4261104"/>
            <a:ext cx="365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57800" y="429768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by Age Group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57800" y="458114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BBCC"/>
                </a:solidFill>
              </a:rPr>
              <a:t>Young Adult $62K → Senior $55K (all close)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29111"/>
          </a:solidFill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🗄️  SQL Code  —  PostgreSQL Business Queries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329184"/>
            <a:ext cx="146304" cy="146304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6" name="Shape 4"/>
          <p:cNvSpPr/>
          <p:nvPr/>
        </p:nvSpPr>
        <p:spPr>
          <a:xfrm>
            <a:off x="484632" y="329184"/>
            <a:ext cx="146304" cy="146304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7" name="Shape 5"/>
          <p:cNvSpPr/>
          <p:nvPr/>
        </p:nvSpPr>
        <p:spPr>
          <a:xfrm>
            <a:off x="740664" y="329184"/>
            <a:ext cx="146304" cy="146304"/>
          </a:xfrm>
          <a:prstGeom prst="ellipse">
            <a:avLst/>
          </a:prstGeom>
          <a:solidFill>
            <a:srgbClr val="28C840"/>
          </a:solidFill>
        </p:spPr>
      </p:sp>
      <p:sp>
        <p:nvSpPr>
          <p:cNvPr id="8" name="Shape 6"/>
          <p:cNvSpPr/>
          <p:nvPr/>
        </p:nvSpPr>
        <p:spPr>
          <a:xfrm>
            <a:off x="182880" y="987552"/>
            <a:ext cx="4297680" cy="1207008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987552"/>
            <a:ext cx="4297680" cy="256032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10" name="Text 8"/>
          <p:cNvSpPr/>
          <p:nvPr/>
        </p:nvSpPr>
        <p:spPr>
          <a:xfrm>
            <a:off x="320040" y="1024128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Q1 — Revenue by Gender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271016"/>
            <a:ext cx="4133088" cy="886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gender,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SUM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(purchase_amount)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revenue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BY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gender;
</a:t>
            </a:r>
            <a:r>
              <a:rPr lang="en-US" sz="8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Female: 75,191  |  Male: 157,890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987552"/>
            <a:ext cx="4297680" cy="1207008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87552"/>
            <a:ext cx="4297680" cy="256032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14" name="Text 12"/>
          <p:cNvSpPr/>
          <p:nvPr/>
        </p:nvSpPr>
        <p:spPr>
          <a:xfrm>
            <a:off x="4892040" y="1024128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A65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Q3 — Top 5 Products by Rating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1271016"/>
            <a:ext cx="4133088" cy="886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item_purchased,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ROUND(AVG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(review_rating),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AS </a:t>
            </a:r>
            <a:r>
              <a:rPr lang="en-US" sz="8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"Average Product Rating"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BY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item_purchased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 BY 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DESC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LIMIT 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2286000"/>
            <a:ext cx="4297680" cy="1261872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286000"/>
            <a:ext cx="4297680" cy="256032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18" name="Text 16"/>
          <p:cNvSpPr/>
          <p:nvPr/>
        </p:nvSpPr>
        <p:spPr>
          <a:xfrm>
            <a:off x="320040" y="2322576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Q5 — Subscribers vs Non-Subscribers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2569464"/>
            <a:ext cx="4133088" cy="9418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subscription_status,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COUNT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(*)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total_customers,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ROUND(AVG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(purchase_amount),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avg_spend,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SUM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(purchase_amount)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total_revenue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BY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subscription_status;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297680" cy="1600200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4297680" cy="256032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22" name="Text 20"/>
          <p:cNvSpPr/>
          <p:nvPr/>
        </p:nvSpPr>
        <p:spPr>
          <a:xfrm>
            <a:off x="4892040" y="2322576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Q7 — Customer Segmentation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2569464"/>
            <a:ext cx="4133088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customer_segment,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COUNT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(*)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8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"Number of Customers"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SELECT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*,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CASE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WHEN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previous_purchases &gt; 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THEN </a:t>
            </a:r>
            <a:r>
              <a:rPr lang="en-US" sz="8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'Loyal'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WHEN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previous_purchases &gt; 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THEN </a:t>
            </a:r>
            <a:r>
              <a:rPr lang="en-US" sz="8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'Returning'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 </a:t>
            </a:r>
            <a:r>
              <a:rPr lang="en-US" sz="8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'New' END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customer_segment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FROM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customer) sub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BY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1;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3639312"/>
            <a:ext cx="4297680" cy="1600200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639312"/>
            <a:ext cx="4297680" cy="256032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26" name="Text 24"/>
          <p:cNvSpPr/>
          <p:nvPr/>
        </p:nvSpPr>
        <p:spPr>
          <a:xfrm>
            <a:off x="320040" y="3675888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514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Q8 — Top 3 Products per Category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" y="3922776"/>
            <a:ext cx="4133088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item_rank, category,
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item_purchased, total_orders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SELECT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category, item_purchased,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COUNT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(*)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total_orders,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RANK() OVER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PARTITION BY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category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ORDER BY 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COUNT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(*)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DESC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item_rank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FROM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BY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1,2) ranked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WHERE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item_rank &lt;= 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 BY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category;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3977640"/>
            <a:ext cx="4297680" cy="1508760"/>
          </a:xfrm>
          <a:prstGeom prst="rect">
            <a:avLst/>
          </a:prstGeom>
          <a:solidFill>
            <a:srgbClr val="161B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977640"/>
            <a:ext cx="4297680" cy="256032"/>
          </a:xfrm>
          <a:prstGeom prst="rect">
            <a:avLst/>
          </a:prstGeom>
          <a:solidFill>
            <a:srgbClr val="21262D"/>
          </a:solidFill>
        </p:spPr>
      </p:sp>
      <p:sp>
        <p:nvSpPr>
          <p:cNvPr id="30" name="Text 28"/>
          <p:cNvSpPr/>
          <p:nvPr/>
        </p:nvSpPr>
        <p:spPr>
          <a:xfrm>
            <a:off x="4892040" y="4014216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A65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Q6 — Discount-Dependent Products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4261104"/>
            <a:ext cx="413308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item_purchased,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ROUND(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COUNT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CASE WHEN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discount_applied=</a:t>
            </a:r>
            <a:r>
              <a:rPr lang="en-US" sz="800" dirty="0">
                <a:solidFill>
                  <a:srgbClr val="A5D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'Yes'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THEN 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 END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* 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100.0
</a:t>
            </a:r>
            <a:r>
              <a:rPr lang="en-US" sz="800" dirty="0">
                <a:solidFill>
                  <a:srgbClr val="D2A8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 COUNT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(*), 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discount_rate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BY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item_purchased
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 BY </a:t>
            </a:r>
            <a:r>
              <a:rPr lang="en-US" sz="8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discount_rate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DESC </a:t>
            </a:r>
            <a:r>
              <a:rPr lang="en-US" sz="800" dirty="0">
                <a:solidFill>
                  <a:srgbClr val="FF7B7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LIMIT </a:t>
            </a:r>
            <a:r>
              <a:rPr lang="en-US" sz="800" dirty="0">
                <a:solidFill>
                  <a:srgbClr val="79C0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5;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FINDINGS  —  Revenue &amp; Customer Segments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A896"/>
          </a:solidFill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1430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931920"/>
            <a:ext cx="1920240" cy="91440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3931920"/>
            <a:ext cx="1920240" cy="64008"/>
          </a:xfrm>
          <a:prstGeom prst="rect">
            <a:avLst/>
          </a:prstGeom>
          <a:solidFill>
            <a:srgbClr val="2ECC71"/>
          </a:solidFill>
        </p:spPr>
      </p:sp>
      <p:sp>
        <p:nvSpPr>
          <p:cNvPr id="9" name="Text 5"/>
          <p:cNvSpPr/>
          <p:nvPr/>
        </p:nvSpPr>
        <p:spPr>
          <a:xfrm>
            <a:off x="457200" y="40233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CC71"/>
                </a:solidFill>
              </a:rPr>
              <a:t>$157,890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7200" y="441655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</a:rPr>
              <a:t>Male Revenue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68880" y="3931920"/>
            <a:ext cx="1920240" cy="91440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468880" y="3931920"/>
            <a:ext cx="1920240" cy="64008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13" name="Text 9"/>
          <p:cNvSpPr/>
          <p:nvPr/>
        </p:nvSpPr>
        <p:spPr>
          <a:xfrm>
            <a:off x="2560320" y="40233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A896"/>
                </a:solidFill>
              </a:rPr>
              <a:t>$75,191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560320" y="441655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</a:rPr>
              <a:t>Female Revenue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0" y="3931920"/>
            <a:ext cx="1920240" cy="91440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0" y="3931920"/>
            <a:ext cx="1920240" cy="64008"/>
          </a:xfrm>
          <a:prstGeom prst="rect">
            <a:avLst/>
          </a:prstGeom>
          <a:solidFill>
            <a:srgbClr val="F6C026"/>
          </a:solidFill>
        </p:spPr>
      </p:sp>
      <p:sp>
        <p:nvSpPr>
          <p:cNvPr id="17" name="Text 13"/>
          <p:cNvSpPr/>
          <p:nvPr/>
        </p:nvSpPr>
        <p:spPr>
          <a:xfrm>
            <a:off x="4663440" y="40233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6C026"/>
                </a:solidFill>
              </a:rPr>
              <a:t>3,116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663440" y="441655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</a:rPr>
              <a:t>Loyal Customers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931920"/>
            <a:ext cx="1920240" cy="91440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75120" y="3931920"/>
            <a:ext cx="1920240" cy="64008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21" name="Text 17"/>
          <p:cNvSpPr/>
          <p:nvPr/>
        </p:nvSpPr>
        <p:spPr>
          <a:xfrm>
            <a:off x="6766560" y="40233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74C3C"/>
                </a:solidFill>
              </a:rPr>
              <a:t>80%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766560" y="441655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</a:rPr>
              <a:t>Loyalty Rate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C71"/>
          </a:solidFill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  —  Products &amp; Discounts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1440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91440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977640"/>
            <a:ext cx="3931920" cy="82296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3977640"/>
            <a:ext cx="64008" cy="822960"/>
          </a:xfrm>
          <a:prstGeom prst="rect">
            <a:avLst/>
          </a:prstGeom>
          <a:solidFill>
            <a:srgbClr val="3776AB"/>
          </a:solidFill>
        </p:spPr>
      </p:sp>
      <p:sp>
        <p:nvSpPr>
          <p:cNvPr id="8" name="Text 4"/>
          <p:cNvSpPr/>
          <p:nvPr/>
        </p:nvSpPr>
        <p:spPr>
          <a:xfrm>
            <a:off x="502920" y="400507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</a:rPr>
              <a:t>Standard Shipping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2920" y="433425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76AB"/>
                </a:solidFill>
              </a:rPr>
              <a:t>$58.46 avg spend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3977640"/>
            <a:ext cx="3931920" cy="82296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3977640"/>
            <a:ext cx="64008" cy="822960"/>
          </a:xfrm>
          <a:prstGeom prst="rect">
            <a:avLst/>
          </a:prstGeom>
          <a:solidFill>
            <a:srgbClr val="2ECC71"/>
          </a:solidFill>
        </p:spPr>
      </p:sp>
      <p:sp>
        <p:nvSpPr>
          <p:cNvPr id="12" name="Text 8"/>
          <p:cNvSpPr/>
          <p:nvPr/>
        </p:nvSpPr>
        <p:spPr>
          <a:xfrm>
            <a:off x="4846320" y="400507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CCDD"/>
                </a:solidFill>
              </a:rPr>
              <a:t>Express Shipping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433425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$60.48 avg spend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POWER BI  —  Interactive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ECC71"/>
          </a:solidFill>
        </p:spPr>
      </p:sp>
      <p:pic>
        <p:nvPicPr>
          <p:cNvPr id="5" name="Image 0" descr="/mnt/user-data/uploads/1777768960087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57784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143000"/>
            <a:ext cx="27432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72200" y="1161288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🔲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75120" y="11612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Subscription Filter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75120" y="139903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Toggle Yes/No to compare subscriber behavior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26480" y="1819656"/>
            <a:ext cx="27432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1837944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75120" y="18379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Gender Filter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75120" y="20756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Male vs Female revenue breakdown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2496312"/>
            <a:ext cx="27432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25146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🚚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75120" y="25146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Shipping Type Filter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75120" y="27523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All 6 shipping methods selectable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26480" y="3172968"/>
            <a:ext cx="27432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72200" y="3191256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75120" y="319125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Revenue by Category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75120" y="34290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Clothing leads with highest revenue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126480" y="3849624"/>
            <a:ext cx="2743200" cy="594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72200" y="3867912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675120" y="386791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Revenue by Age Group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675120" y="410565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Young Adults contribute most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4663440"/>
            <a:ext cx="1737360" cy="347472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7" name="Text 24"/>
          <p:cNvSpPr/>
          <p:nvPr/>
        </p:nvSpPr>
        <p:spPr>
          <a:xfrm>
            <a:off x="438912" y="4663440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</a:rPr>
              <a:t>249  Filtered Customers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240280" y="4663440"/>
            <a:ext cx="1737360" cy="347472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9" name="Text 26"/>
          <p:cNvSpPr/>
          <p:nvPr/>
        </p:nvSpPr>
        <p:spPr>
          <a:xfrm>
            <a:off x="2313432" y="4663440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</a:rPr>
              <a:t>$59.94  Avg Purchase (Filtered)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14800" y="4663440"/>
            <a:ext cx="1737360" cy="347472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1" name="Text 28"/>
          <p:cNvSpPr/>
          <p:nvPr/>
        </p:nvSpPr>
        <p:spPr>
          <a:xfrm>
            <a:off x="4187952" y="4663440"/>
            <a:ext cx="16276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</a:rPr>
              <a:t>3.69  Avg Rating (Filtered)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52160" y="4663440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Snapshot: Male · No Subscription · Free Shipping filter active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6C026"/>
          </a:solidFill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BUSINESS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AABB"/>
                </a:solidFill>
              </a:rPr>
              <a:t>Data-driven strategies to drive growth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169164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F6C026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258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C026"/>
                </a:solidFill>
              </a:rPr>
              <a:t>Boost Subscriptions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2514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BCCDD"/>
                </a:solidFill>
              </a:rPr>
              <a:t>Only 27% of customers are subscribers yet revenue per subscriber is competitive. Promote exclusive perks — early access, free shipping, member discounts — to convert the 73% non-subscriber base.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743200" cy="169164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00A896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716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3258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</a:rPr>
              <a:t>Customer Loyalty Programs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383280" y="1783080"/>
            <a:ext cx="2514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BCCDD"/>
                </a:solidFill>
              </a:rPr>
              <a:t>80% of customers are already 'Loyal'. Introduce tiered reward programs (Bronze/Silver/Gold) to recognise and retain these buyers — and push 701 Returning customers into Loyal status.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72200" y="1188720"/>
            <a:ext cx="2743200" cy="169164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188720"/>
            <a:ext cx="2743200" cy="64008"/>
          </a:xfrm>
          <a:prstGeom prst="rect">
            <a:avLst/>
          </a:prstGeom>
          <a:solidFill>
            <a:srgbClr val="2ECC71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3258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C71"/>
                </a:solidFill>
              </a:rPr>
              <a:t>Review Discount Policy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09360" y="1783080"/>
            <a:ext cx="25146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BCCDD"/>
                </a:solidFill>
              </a:rPr>
              <a:t>Hat (50%), Sneakers (49.7%) and Coat (49%) show near-50% discount rates. Audit margin impact and consider capping discounts or replacing them with loyalty point incentives.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3063240"/>
            <a:ext cx="4297680" cy="169164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063240"/>
            <a:ext cx="4297680" cy="64008"/>
          </a:xfrm>
          <a:prstGeom prst="rect">
            <a:avLst/>
          </a:prstGeom>
          <a:solidFill>
            <a:srgbClr val="E74C3C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461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320040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4C3C"/>
                </a:solidFill>
              </a:rPr>
              <a:t>Product Positioning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3657600"/>
            <a:ext cx="40690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BCCDD"/>
                </a:solidFill>
              </a:rPr>
              <a:t>Highlight top-rated products (Gloves 3.86, Sandals 3.84, Boots 3.82) in marketing campaigns. Feature best-sellers per category: Jewelry, Blouse, Sandals, Jacket.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800600" y="3063240"/>
            <a:ext cx="4297680" cy="1691640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0600" y="3063240"/>
            <a:ext cx="4297680" cy="64008"/>
          </a:xfrm>
          <a:prstGeom prst="rect">
            <a:avLst/>
          </a:prstGeom>
          <a:solidFill>
            <a:srgbClr val="9B59B6"/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24612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320040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59B6"/>
                </a:solidFill>
              </a:rPr>
              <a:t>Targeted Marketing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937760" y="3657600"/>
            <a:ext cx="40690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BCCDD"/>
                </a:solidFill>
              </a:rPr>
              <a:t>Young Adults contribute the highest revenue ($62K). Focus digital campaigns on this segment. Express shipping users spend $2 more on average — upsell premium delivery at checkout.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-274320"/>
            <a:ext cx="4114800" cy="4114800"/>
          </a:xfrm>
          <a:prstGeom prst="ellipse">
            <a:avLst/>
          </a:prstGeom>
          <a:solidFill>
            <a:srgbClr val="1A7A4A">
              <a:alpha val="30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457200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Complete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914400"/>
            <a:ext cx="4754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114800" y="2194560"/>
            <a:ext cx="2743200" cy="64008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7" name="Text 5"/>
          <p:cNvSpPr/>
          <p:nvPr/>
        </p:nvSpPr>
        <p:spPr>
          <a:xfrm>
            <a:off x="4114800" y="242316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BCCDD"/>
                </a:solidFill>
              </a:rPr>
              <a:t>Tools &amp; Technologies Used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2880360"/>
            <a:ext cx="2148840" cy="438912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2880360"/>
            <a:ext cx="64008" cy="438912"/>
          </a:xfrm>
          <a:prstGeom prst="rect">
            <a:avLst/>
          </a:prstGeom>
          <a:solidFill>
            <a:srgbClr val="3776AB"/>
          </a:solidFill>
        </p:spPr>
      </p:sp>
      <p:sp>
        <p:nvSpPr>
          <p:cNvPr id="10" name="Text 8"/>
          <p:cNvSpPr/>
          <p:nvPr/>
        </p:nvSpPr>
        <p:spPr>
          <a:xfrm>
            <a:off x="4251960" y="288036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(pandas)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2880360"/>
            <a:ext cx="2148840" cy="438912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880360"/>
            <a:ext cx="64008" cy="438912"/>
          </a:xfrm>
          <a:prstGeom prst="rect">
            <a:avLst/>
          </a:prstGeom>
          <a:solidFill>
            <a:srgbClr val="336791"/>
          </a:solidFill>
        </p:spPr>
      </p:sp>
      <p:sp>
        <p:nvSpPr>
          <p:cNvPr id="13" name="Text 11"/>
          <p:cNvSpPr/>
          <p:nvPr/>
        </p:nvSpPr>
        <p:spPr>
          <a:xfrm>
            <a:off x="6583680" y="288036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 / 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429000"/>
            <a:ext cx="2148840" cy="438912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0" y="3429000"/>
            <a:ext cx="64008" cy="438912"/>
          </a:xfrm>
          <a:prstGeom prst="rect">
            <a:avLst/>
          </a:prstGeom>
          <a:solidFill>
            <a:srgbClr val="F2C811"/>
          </a:solidFill>
        </p:spPr>
      </p:sp>
      <p:sp>
        <p:nvSpPr>
          <p:cNvPr id="16" name="Text 14"/>
          <p:cNvSpPr/>
          <p:nvPr/>
        </p:nvSpPr>
        <p:spPr>
          <a:xfrm>
            <a:off x="4251960" y="342900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3429000"/>
            <a:ext cx="2148840" cy="438912"/>
          </a:xfrm>
          <a:prstGeom prst="rect">
            <a:avLst/>
          </a:prstGeom>
          <a:solidFill>
            <a:srgbClr val="1B3A5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429000"/>
            <a:ext cx="64008" cy="438912"/>
          </a:xfrm>
          <a:prstGeom prst="rect">
            <a:avLst/>
          </a:prstGeom>
          <a:solidFill>
            <a:srgbClr val="2ECC71"/>
          </a:solidFill>
        </p:spPr>
      </p:sp>
      <p:sp>
        <p:nvSpPr>
          <p:cNvPr id="19" name="Text 17"/>
          <p:cNvSpPr/>
          <p:nvPr/>
        </p:nvSpPr>
        <p:spPr>
          <a:xfrm>
            <a:off x="6583680" y="342900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(Version Control)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71"/>
                </a:solidFill>
              </a:rPr>
              <a:t>3,900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7200" y="187452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</a:rPr>
              <a:t>Purchases Analyzed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37744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71"/>
                </a:solidFill>
              </a:rPr>
              <a:t>10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" y="288036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</a:rPr>
              <a:t>SQL Queries Run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71"/>
                </a:solidFill>
              </a:rPr>
              <a:t>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</a:rPr>
              <a:t>Customer Shopping Behavior Analysis  —  End-to-End Data Analytics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7126</Words>
  <Application>WPS Presentation</Application>
  <PresentationFormat>On-screen Show (16:9)</PresentationFormat>
  <Paragraphs>402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meads</cp:lastModifiedBy>
  <cp:revision>2</cp:revision>
  <dcterms:created xsi:type="dcterms:W3CDTF">2026-05-03T01:03:00Z</dcterms:created>
  <dcterms:modified xsi:type="dcterms:W3CDTF">2026-05-03T01:11:17Z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A30ED113BC6E4C19ACD42317B83B7F8E_12</vt:lpwstr>
  </property>
  <property fmtid="{D5CDD505-2E9C-101B-9397-08002B2CF9AE}" pid="3" name="KSOProductBuildVer">
    <vt:lpwstr>2057-12.2.0.23202</vt:lpwstr>
  </property>
</Properties>
</file>